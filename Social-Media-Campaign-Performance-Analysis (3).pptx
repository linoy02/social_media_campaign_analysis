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</p:sldIdLst>
  <p:sldSz cx="14630400" cy="8229600"/>
  <p:notesSz cx="8229600" cy="14630400"/>
  <p:embeddedFontLst>
    <p:embeddedFont>
      <p:font typeface="Playfair Display Semi Bold" panose="020B0604020202020204" charset="0"/>
      <p:regular r:id="rId11"/>
    </p:embeddedFont>
    <p:embeddedFont>
      <p:font typeface="Public San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2F5"/>
    <a:srgbClr val="F0F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16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1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Social Media Campaign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B6981"/>
                </a:solidFill>
                <a:latin typeface="Playfair Display Semi Bold" pitchFamily="34" charset="0"/>
              </a:rPr>
              <a:t>Rotem Geller &amp; Linoy Yaday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Project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E1C2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Business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4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CCC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3790" y="4449009"/>
            <a:ext cx="2886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Sources &amp; Model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</a:rPr>
              <a:t>2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B4D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89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E1C2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Quality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3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CCC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28546" y="44490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General Overview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B4D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28547" y="62246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Dashboard &amp; Business Insights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6"/>
          <p:cNvSpPr/>
          <p:nvPr/>
        </p:nvSpPr>
        <p:spPr>
          <a:xfrm>
            <a:off x="586859" y="5096589"/>
            <a:ext cx="7970282" cy="1005959"/>
          </a:xfrm>
          <a:prstGeom prst="roundRect">
            <a:avLst>
              <a:gd name="adj" fmla="val 7001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6859" y="883794"/>
            <a:ext cx="4191833" cy="52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</a:rPr>
              <a:t>Business Objectives</a:t>
            </a:r>
          </a:p>
        </p:txBody>
      </p:sp>
      <p:sp>
        <p:nvSpPr>
          <p:cNvPr id="4" name="Shape 1"/>
          <p:cNvSpPr/>
          <p:nvPr/>
        </p:nvSpPr>
        <p:spPr>
          <a:xfrm>
            <a:off x="586859" y="1706880"/>
            <a:ext cx="7970282" cy="1005959"/>
          </a:xfrm>
          <a:prstGeom prst="roundRect">
            <a:avLst>
              <a:gd name="adj" fmla="val 7001"/>
            </a:avLst>
          </a:prstGeom>
          <a:solidFill>
            <a:srgbClr val="FFFAF6"/>
          </a:solidFill>
          <a:ln w="22860">
            <a:solidFill>
              <a:srgbClr val="E1C2C2"/>
            </a:solidFill>
            <a:prstDash val="solid"/>
          </a:ln>
          <a:effectLst>
            <a:outerShdw dist="15240" dir="2700000" algn="bl" rotWithShape="0">
              <a:srgbClr val="E1C2C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9719" y="1729740"/>
            <a:ext cx="670679" cy="960239"/>
          </a:xfrm>
          <a:prstGeom prst="roundRect">
            <a:avLst>
              <a:gd name="adj" fmla="val 6410"/>
            </a:avLst>
          </a:prstGeom>
          <a:solidFill>
            <a:srgbClr val="E1C2C2">
              <a:alpha val="50000"/>
            </a:srgbClr>
          </a:solidFill>
          <a:ln/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5459" y="2052638"/>
            <a:ext cx="2514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04342" y="1897380"/>
            <a:ext cx="209585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Targeting</a:t>
            </a:r>
            <a:r>
              <a:rPr lang="en-US" sz="16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</a:t>
            </a: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Match</a:t>
            </a:r>
          </a:p>
        </p:txBody>
      </p:sp>
      <p:sp>
        <p:nvSpPr>
          <p:cNvPr id="8" name="Text 5"/>
          <p:cNvSpPr/>
          <p:nvPr/>
        </p:nvSpPr>
        <p:spPr>
          <a:xfrm>
            <a:off x="1404342" y="2233613"/>
            <a:ext cx="6962299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Playfair Display Semi Bold" pitchFamily="34" charset="0"/>
              </a:rPr>
              <a:t>Does campaign targeting align with actual audience interaction?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6859" y="2836783"/>
            <a:ext cx="7970282" cy="1005959"/>
          </a:xfrm>
          <a:prstGeom prst="roundRect">
            <a:avLst>
              <a:gd name="adj" fmla="val 7001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9719" y="2859643"/>
            <a:ext cx="670679" cy="960239"/>
          </a:xfrm>
          <a:prstGeom prst="roundRect">
            <a:avLst>
              <a:gd name="adj" fmla="val 6410"/>
            </a:avLst>
          </a:prstGeom>
          <a:solidFill>
            <a:srgbClr val="CCC4EC">
              <a:alpha val="50000"/>
            </a:srgbClr>
          </a:solidFill>
          <a:ln/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5459" y="3182541"/>
            <a:ext cx="2514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404342" y="3027283"/>
            <a:ext cx="209585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Funnel Performance</a:t>
            </a:r>
          </a:p>
        </p:txBody>
      </p:sp>
      <p:sp>
        <p:nvSpPr>
          <p:cNvPr id="13" name="Text 10"/>
          <p:cNvSpPr/>
          <p:nvPr/>
        </p:nvSpPr>
        <p:spPr>
          <a:xfrm>
            <a:off x="1404342" y="3363516"/>
            <a:ext cx="6962299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Playfair Display Semi Bold" pitchFamily="34" charset="0"/>
              </a:rPr>
              <a:t>How do campaigns perform across the conversion funnel?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6859" y="3966686"/>
            <a:ext cx="7970282" cy="1005959"/>
          </a:xfrm>
          <a:prstGeom prst="roundRect">
            <a:avLst>
              <a:gd name="adj" fmla="val 7001"/>
            </a:avLst>
          </a:prstGeom>
          <a:solidFill>
            <a:srgbClr val="FFFAF6"/>
          </a:solidFill>
          <a:ln w="22860">
            <a:solidFill>
              <a:srgbClr val="B4DAE4"/>
            </a:solidFill>
            <a:prstDash val="solid"/>
          </a:ln>
          <a:effectLst>
            <a:outerShdw dist="15240" dir="2700000" algn="bl" rotWithShape="0">
              <a:srgbClr val="B4DAE4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9719" y="3989546"/>
            <a:ext cx="670679" cy="960239"/>
          </a:xfrm>
          <a:prstGeom prst="roundRect">
            <a:avLst>
              <a:gd name="adj" fmla="val 6410"/>
            </a:avLst>
          </a:prstGeom>
          <a:solidFill>
            <a:srgbClr val="B4DAE4">
              <a:alpha val="50000"/>
            </a:srgbClr>
          </a:solidFill>
          <a:ln/>
          <a:effectLst>
            <a:outerShdw dist="1524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15459" y="4312444"/>
            <a:ext cx="2514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402437" y="5291626"/>
            <a:ext cx="218539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050"/>
              </a:lnSpc>
              <a:buNone/>
            </a:pP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Engagement Efficiency</a:t>
            </a:r>
          </a:p>
        </p:txBody>
      </p:sp>
      <p:sp>
        <p:nvSpPr>
          <p:cNvPr id="18" name="Text 15"/>
          <p:cNvSpPr/>
          <p:nvPr/>
        </p:nvSpPr>
        <p:spPr>
          <a:xfrm>
            <a:off x="1404342" y="5619835"/>
            <a:ext cx="6962299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Playfair Display Semi Bold" pitchFamily="34" charset="0"/>
              </a:rPr>
              <a:t>Which campaigns generate highest engagement relative to cost and duration?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9719" y="5119449"/>
            <a:ext cx="670679" cy="960239"/>
          </a:xfrm>
          <a:prstGeom prst="roundRect">
            <a:avLst>
              <a:gd name="adj" fmla="val 6410"/>
            </a:avLst>
          </a:prstGeom>
          <a:solidFill>
            <a:srgbClr val="E1C2C2">
              <a:alpha val="50000"/>
            </a:srgbClr>
          </a:solidFill>
          <a:ln/>
          <a:effectLst>
            <a:outerShdw dist="1524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15459" y="5442347"/>
            <a:ext cx="2514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404342" y="4158699"/>
            <a:ext cx="209585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Platform &amp; Format</a:t>
            </a:r>
          </a:p>
        </p:txBody>
      </p:sp>
      <p:sp>
        <p:nvSpPr>
          <p:cNvPr id="23" name="Text 20"/>
          <p:cNvSpPr/>
          <p:nvPr/>
        </p:nvSpPr>
        <p:spPr>
          <a:xfrm>
            <a:off x="1402437" y="4494931"/>
            <a:ext cx="6962299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Playfair Display Semi Bold" pitchFamily="34" charset="0"/>
              </a:rPr>
              <a:t>Which platforms and ad types perform best?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86859" y="6226493"/>
            <a:ext cx="7970282" cy="1005959"/>
          </a:xfrm>
          <a:prstGeom prst="roundRect">
            <a:avLst>
              <a:gd name="adj" fmla="val 7001"/>
            </a:avLst>
          </a:prstGeom>
          <a:solidFill>
            <a:srgbClr val="FFFAF6"/>
          </a:solidFill>
          <a:ln w="22860">
            <a:solidFill>
              <a:srgbClr val="CCC4EC"/>
            </a:solidFill>
            <a:prstDash val="solid"/>
          </a:ln>
          <a:effectLst>
            <a:outerShdw dist="15240" dir="2700000" algn="bl" rotWithShape="0">
              <a:srgbClr val="CCC4EC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609719" y="6249353"/>
            <a:ext cx="670679" cy="960239"/>
          </a:xfrm>
          <a:prstGeom prst="roundRect">
            <a:avLst>
              <a:gd name="adj" fmla="val 6410"/>
            </a:avLst>
          </a:prstGeom>
          <a:solidFill>
            <a:srgbClr val="CCC4EC">
              <a:alpha val="50000"/>
            </a:srgbClr>
          </a:solidFill>
          <a:ln/>
          <a:effectLst>
            <a:outerShdw dist="1524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15459" y="6572250"/>
            <a:ext cx="2514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404342" y="6416993"/>
            <a:ext cx="22504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050"/>
              </a:lnSpc>
              <a:buNone/>
            </a:pPr>
            <a:r>
              <a:rPr lang="en-US" sz="2000" dirty="0">
                <a:solidFill>
                  <a:srgbClr val="6F655D"/>
                </a:solidFill>
                <a:latin typeface="Playfair Display Semi Bold" pitchFamily="34" charset="0"/>
              </a:rPr>
              <a:t>Optimization Decisions</a:t>
            </a:r>
          </a:p>
        </p:txBody>
      </p:sp>
      <p:sp>
        <p:nvSpPr>
          <p:cNvPr id="28" name="Text 25"/>
          <p:cNvSpPr/>
          <p:nvPr/>
        </p:nvSpPr>
        <p:spPr>
          <a:xfrm>
            <a:off x="1404342" y="6753225"/>
            <a:ext cx="6962299" cy="2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latin typeface="Playfair Display Semi Bold" pitchFamily="34" charset="0"/>
              </a:rPr>
              <a:t>Which campaigns should be extended, optimized, or stopped?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734" y="0"/>
            <a:ext cx="5662682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595" y="786500"/>
            <a:ext cx="106870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Model</a:t>
            </a:r>
            <a:r>
              <a:rPr lang="he-IL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 </a:t>
            </a: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&amp; Transformation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927585" y="6477102"/>
            <a:ext cx="4052855" cy="602022"/>
          </a:xfrm>
          <a:prstGeom prst="roundRect">
            <a:avLst>
              <a:gd name="adj" fmla="val 3966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2032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02172" y="6623930"/>
            <a:ext cx="3903679" cy="531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Consolidated Interest Categories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589257" y="6475512"/>
            <a:ext cx="4052857" cy="602022"/>
          </a:xfrm>
          <a:prstGeom prst="roundRect">
            <a:avLst>
              <a:gd name="adj" fmla="val 3966"/>
            </a:avLst>
          </a:prstGeom>
          <a:solidFill>
            <a:srgbClr val="CCC4EC">
              <a:alpha val="50000"/>
            </a:srgbClr>
          </a:solidFill>
          <a:ln w="7620">
            <a:solidFill>
              <a:srgbClr val="B2AAD2"/>
            </a:solidFill>
            <a:prstDash val="solid"/>
          </a:ln>
          <a:effectLst>
            <a:outerShdw dist="20320" dir="2700000" algn="bl" rotWithShape="0">
              <a:srgbClr val="B2AAD2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85719" y="6623375"/>
            <a:ext cx="3459925" cy="326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en-US" sz="2000" dirty="0">
                <a:solidFill>
                  <a:srgbClr val="000000"/>
                </a:solidFill>
                <a:latin typeface="Playfair Display Semi Bold" pitchFamily="34" charset="0"/>
              </a:rPr>
              <a:t>Dimensional Fact Tables</a:t>
            </a:r>
          </a:p>
        </p:txBody>
      </p:sp>
      <p:sp>
        <p:nvSpPr>
          <p:cNvPr id="10" name="Shape 7"/>
          <p:cNvSpPr/>
          <p:nvPr/>
        </p:nvSpPr>
        <p:spPr>
          <a:xfrm>
            <a:off x="927583" y="7225952"/>
            <a:ext cx="4052855" cy="580265"/>
          </a:xfrm>
          <a:prstGeom prst="roundRect">
            <a:avLst>
              <a:gd name="adj" fmla="val 3952"/>
            </a:avLst>
          </a:prstGeom>
          <a:solidFill>
            <a:srgbClr val="B4DAE4">
              <a:alpha val="50000"/>
            </a:srgbClr>
          </a:solidFill>
          <a:ln w="7620">
            <a:solidFill>
              <a:srgbClr val="9AC0CA"/>
            </a:solidFill>
            <a:prstDash val="solid"/>
          </a:ln>
          <a:effectLst>
            <a:outerShdw dist="20320" dir="2700000" algn="bl" rotWithShape="0">
              <a:srgbClr val="9AC0CA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26510" y="7353988"/>
            <a:ext cx="28550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yfair Display Semi Bold" pitchFamily="34" charset="0"/>
              </a:rPr>
              <a:t>Relationship Mapping</a:t>
            </a:r>
          </a:p>
        </p:txBody>
      </p:sp>
      <p:sp>
        <p:nvSpPr>
          <p:cNvPr id="13" name="Shape 10"/>
          <p:cNvSpPr/>
          <p:nvPr/>
        </p:nvSpPr>
        <p:spPr>
          <a:xfrm>
            <a:off x="5589252" y="7223314"/>
            <a:ext cx="4052857" cy="585540"/>
          </a:xfrm>
          <a:prstGeom prst="roundRect">
            <a:avLst>
              <a:gd name="adj" fmla="val 3952"/>
            </a:avLst>
          </a:prstGeom>
          <a:solidFill>
            <a:srgbClr val="E1C2C2">
              <a:alpha val="50000"/>
            </a:srgbClr>
          </a:solidFill>
          <a:ln w="7620">
            <a:solidFill>
              <a:srgbClr val="C7A8A8"/>
            </a:solidFill>
            <a:prstDash val="solid"/>
          </a:ln>
          <a:effectLst>
            <a:outerShdw dist="20320" dir="2700000" algn="bl" rotWithShape="0">
              <a:srgbClr val="C7A8A8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98062" y="73539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Playfair Display Semi Bold" pitchFamily="34" charset="0"/>
              </a:rPr>
              <a:t>Feature Development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0ACDF0-7787-869D-656F-6781FE5781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9" t="4938" r="2057" b="16107"/>
          <a:stretch>
            <a:fillRect/>
          </a:stretch>
        </p:blipFill>
        <p:spPr>
          <a:xfrm>
            <a:off x="927583" y="1659144"/>
            <a:ext cx="9189578" cy="46885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976" y="1144211"/>
            <a:ext cx="63019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Data Quality &amp; Cleaning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10" y="2792253"/>
            <a:ext cx="2194441" cy="2194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0113" y="5270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Duplicate Removal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60601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1.07% duplicate users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1998" y="2792135"/>
            <a:ext cx="219456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1719" y="5270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Invalid Events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76060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Removed events before campaign start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604" y="2792135"/>
            <a:ext cx="2194560" cy="21945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63326" y="5270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Field Validation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76060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 ranges, gender values, missing critical fields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8211" y="2792135"/>
            <a:ext cx="2194560" cy="21945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94933" y="52701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Referential Integrity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76060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Validated relationships across tables</a:t>
            </a:r>
            <a:endParaRPr lang="en-US" sz="175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C8DCDA6-0DB0-8EB5-92BA-1FAAD0F1C8D8}"/>
              </a:ext>
            </a:extLst>
          </p:cNvPr>
          <p:cNvSpPr/>
          <p:nvPr/>
        </p:nvSpPr>
        <p:spPr>
          <a:xfrm rot="5400000">
            <a:off x="2293214" y="3635493"/>
            <a:ext cx="49031" cy="2941677"/>
          </a:xfrm>
          <a:prstGeom prst="rect">
            <a:avLst/>
          </a:prstGeom>
          <a:solidFill>
            <a:srgbClr val="E1C2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992984EA-7F6D-D6F3-4925-E23796F468CF}"/>
              </a:ext>
            </a:extLst>
          </p:cNvPr>
          <p:cNvSpPr/>
          <p:nvPr/>
        </p:nvSpPr>
        <p:spPr>
          <a:xfrm rot="5400000">
            <a:off x="12234814" y="3633084"/>
            <a:ext cx="49031" cy="2941677"/>
          </a:xfrm>
          <a:prstGeom prst="rect">
            <a:avLst/>
          </a:prstGeom>
          <a:solidFill>
            <a:srgbClr val="E1C2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C0CEBD27-FE80-562A-4E15-F821274868D5}"/>
              </a:ext>
            </a:extLst>
          </p:cNvPr>
          <p:cNvSpPr/>
          <p:nvPr/>
        </p:nvSpPr>
        <p:spPr>
          <a:xfrm rot="5400000">
            <a:off x="5626419" y="3637150"/>
            <a:ext cx="45719" cy="2941676"/>
          </a:xfrm>
          <a:prstGeom prst="rect">
            <a:avLst/>
          </a:prstGeom>
          <a:solidFill>
            <a:srgbClr val="CCC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8155DD2E-925B-8423-04C5-DADFABBABD08}"/>
              </a:ext>
            </a:extLst>
          </p:cNvPr>
          <p:cNvSpPr/>
          <p:nvPr/>
        </p:nvSpPr>
        <p:spPr>
          <a:xfrm rot="5400000">
            <a:off x="8904863" y="3634740"/>
            <a:ext cx="45719" cy="2941677"/>
          </a:xfrm>
          <a:prstGeom prst="rect">
            <a:avLst/>
          </a:prstGeom>
          <a:solidFill>
            <a:srgbClr val="B4DAE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EF03A410-DBE4-6C16-9AD8-F713A33F1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0516"/>
            <a:ext cx="14653470" cy="8330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91"/>
            <a:ext cx="84933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Business Insights &amp; Conclusions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303" y="4024073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4233" y="4024073"/>
            <a:ext cx="30176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Targeting Effectiveness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74232" y="4514492"/>
            <a:ext cx="584096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Audience targeting is misaligned with actual user behavior, limiting campaign impact.</a:t>
            </a: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024073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4024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Budget Efficiency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20814" y="4514492"/>
            <a:ext cx="541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Higher budgets don't always result in better performance. Longer duration doesn't guarantee improved results.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303" y="6056827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4233" y="6056827"/>
            <a:ext cx="42143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Platform &amp; Format Performance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474233" y="6547246"/>
            <a:ext cx="584096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Ad format drives performance more than platform, with Stories delivering the strongest results.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6056827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60568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F655D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Funnel Performance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420814" y="6547246"/>
            <a:ext cx="54157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50" dirty="0">
                <a:solidFill>
                  <a:srgbClr val="6F655D"/>
                </a:solidFill>
                <a:latin typeface="Public Sans" pitchFamily="34" charset="0"/>
              </a:rPr>
              <a:t>Strong engagement at the top, but low conversion highlights audience quality </a:t>
            </a:r>
            <a:r>
              <a:rPr lang="en-US" sz="1750">
                <a:solidFill>
                  <a:srgbClr val="6F655D"/>
                </a:solidFill>
                <a:latin typeface="Public Sans" pitchFamily="34" charset="0"/>
              </a:rPr>
              <a:t>gaps.</a:t>
            </a:r>
            <a:endParaRPr lang="en-US" sz="1750" dirty="0">
              <a:solidFill>
                <a:srgbClr val="6F655D"/>
              </a:solidFill>
              <a:latin typeface="Public Sans" pitchFamily="34" charset="0"/>
            </a:endParaRP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16366159-4FAC-9BDB-A196-2F8DD49904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52400" y="-70751"/>
            <a:ext cx="14935200" cy="2742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51390" y="3172063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Thank You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4451390" y="449044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B6981"/>
                </a:solidFill>
                <a:latin typeface="Playfair Display Semi Bold" pitchFamily="34" charset="0"/>
                <a:ea typeface="Playfair Display Semi Bold" pitchFamily="34" charset="-122"/>
                <a:cs typeface="Playfair Display Semi Bold" pitchFamily="34" charset="-120"/>
              </a:rPr>
              <a:t>Questions?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3166</TotalTime>
  <Words>233</Words>
  <Application>Microsoft Office PowerPoint</Application>
  <PresentationFormat>Custom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Public Sans</vt:lpstr>
      <vt:lpstr>Arial</vt:lpstr>
      <vt:lpstr>Playfair Display Light</vt:lpstr>
      <vt:lpstr>Playfair Display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רותם גלר</cp:lastModifiedBy>
  <cp:revision>4</cp:revision>
  <dcterms:created xsi:type="dcterms:W3CDTF">2026-02-12T13:11:51Z</dcterms:created>
  <dcterms:modified xsi:type="dcterms:W3CDTF">2026-02-14T18:24:25Z</dcterms:modified>
</cp:coreProperties>
</file>